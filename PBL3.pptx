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3" r:id="rId6"/>
    <p:sldId id="274" r:id="rId7"/>
    <p:sldId id="277" r:id="rId8"/>
    <p:sldId id="260" r:id="rId9"/>
    <p:sldId id="262" r:id="rId10"/>
    <p:sldId id="261" r:id="rId11"/>
    <p:sldId id="270" r:id="rId12"/>
    <p:sldId id="266" r:id="rId13"/>
    <p:sldId id="271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4"/>
    <p:restoredTop sz="94634"/>
  </p:normalViewPr>
  <p:slideViewPr>
    <p:cSldViewPr snapToGrid="0">
      <p:cViewPr varScale="1">
        <p:scale>
          <a:sx n="172" d="100"/>
          <a:sy n="172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14/10/25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/>
          <a:lstStyle/>
          <a:p>
            <a:r>
              <a:rPr lang="en-IN" dirty="0"/>
              <a:t>Student AI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Submitted By:</a:t>
            </a:r>
          </a:p>
          <a:p>
            <a:br>
              <a:rPr lang="en-IN" dirty="0"/>
            </a:br>
            <a:r>
              <a:rPr lang="en-IN" dirty="0"/>
              <a:t>Shresth Panigrahi: - 23F10CSE00669</a:t>
            </a:r>
          </a:p>
          <a:p>
            <a:r>
              <a:rPr lang="en-IN" dirty="0"/>
              <a:t>Raaj Shekhar: - 23FE10CSE00791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Jay S. Sharma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6836"/>
          </a:xfrm>
        </p:spPr>
        <p:txBody>
          <a:bodyPr>
            <a:normAutofit/>
          </a:bodyPr>
          <a:lstStyle/>
          <a:p>
            <a:r>
              <a:rPr lang="en-IN" sz="4000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317"/>
            <a:ext cx="10515600" cy="5117558"/>
          </a:xfrm>
        </p:spPr>
        <p:txBody>
          <a:bodyPr/>
          <a:lstStyle/>
          <a:p>
            <a:pPr marL="0" indent="0">
              <a:buNone/>
            </a:pPr>
            <a:r>
              <a:rPr lang="en-IN" sz="2400" u="sng" dirty="0">
                <a:latin typeface="Aptos" panose="020B0004020202020204" pitchFamily="34" charset="0"/>
              </a:rPr>
              <a:t>Student AI </a:t>
            </a:r>
            <a:r>
              <a:rPr lang="en-IN" sz="2400" u="sng" dirty="0" err="1">
                <a:latin typeface="Aptos" panose="020B0004020202020204" pitchFamily="34" charset="0"/>
              </a:rPr>
              <a:t>Assisstant</a:t>
            </a:r>
            <a:endParaRPr lang="en-IN" sz="2400" u="sng" dirty="0">
              <a:latin typeface="Aptos" panose="020B00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Real-time Speech-to-Text Transcription System for live lectures and educational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AI-powered learning companion designed specifically for students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Intelligent Q&amp;A capabilities to help understand lecture content better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Automated lecture analysis with summarization and key concept extraction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1400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IN" sz="2000" i="0" u="sng" dirty="0">
                <a:effectLst/>
                <a:latin typeface="Aptos" panose="020B0004020202020204" pitchFamily="34" charset="0"/>
              </a:rPr>
              <a:t>What It Does?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Live Transcription: Converts spoken lectures into text in real-time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Smart Q&amp;A: Answer questions about ongoing or previous lectures instantly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Lecture Summarization: Generate comprehensive summaries of educational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Terminology Extraction: Automatically identify and explain technical terms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0" i="0" dirty="0">
                <a:effectLst/>
                <a:latin typeface="fkGroteskNeue"/>
              </a:rPr>
              <a:t>Session Management: Save and revisit previous lecture transcriptions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1C45-9838-98CB-C102-6CB52668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180"/>
            <a:ext cx="10515600" cy="809470"/>
          </a:xfrm>
        </p:spPr>
        <p:txBody>
          <a:bodyPr>
            <a:normAutofit/>
          </a:bodyPr>
          <a:lstStyle/>
          <a:p>
            <a:r>
              <a:rPr lang="en-US" sz="3200" u="sng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6D2BF-AFC4-C614-83D4-789F947BE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182031"/>
            <a:ext cx="5517995" cy="5553306"/>
          </a:xfrm>
        </p:spPr>
        <p:txBody>
          <a:bodyPr>
            <a:normAutofit fontScale="62500" lnSpcReduction="20000"/>
          </a:bodyPr>
          <a:lstStyle/>
          <a:p>
            <a:pPr algn="l">
              <a:buNone/>
            </a:pPr>
            <a:r>
              <a:rPr lang="en-IN" sz="2800" b="1" i="0" dirty="0">
                <a:effectLst/>
                <a:latin typeface="Aptos" panose="020B0004020202020204" pitchFamily="34" charset="0"/>
              </a:rPr>
              <a:t>Core Components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Main Application Controller - Central orchestration and state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Audio Processing Layer - Real-time capture with VAD and buffering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Speech Recognition Engine - </a:t>
            </a:r>
            <a:r>
              <a:rPr lang="en-IN" sz="2800" b="0" i="0" dirty="0" err="1">
                <a:effectLst/>
                <a:latin typeface="fkGroteskNeue"/>
              </a:rPr>
              <a:t>WhisperLive</a:t>
            </a:r>
            <a:r>
              <a:rPr lang="en-IN" sz="2800" b="0" i="0" dirty="0">
                <a:effectLst/>
                <a:latin typeface="fkGroteskNeue"/>
              </a:rPr>
              <a:t> integration for transcription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AI Processing Pipeline - QA agent and lecture summarizer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User Interface - </a:t>
            </a:r>
            <a:r>
              <a:rPr lang="en-IN" sz="2800" b="0" i="0" dirty="0" err="1">
                <a:effectLst/>
                <a:latin typeface="fkGroteskNeue"/>
              </a:rPr>
              <a:t>CustomTkinter</a:t>
            </a:r>
            <a:r>
              <a:rPr lang="en-IN" sz="2800" b="0" i="0" dirty="0">
                <a:effectLst/>
                <a:latin typeface="fkGroteskNeue"/>
              </a:rPr>
              <a:t>-based modern GUI</a:t>
            </a:r>
          </a:p>
          <a:p>
            <a:pPr algn="l">
              <a:buNone/>
            </a:pPr>
            <a:r>
              <a:rPr lang="en-IN" sz="2800" b="1" i="0" dirty="0">
                <a:effectLst/>
                <a:latin typeface="Aptos" panose="020B0004020202020204" pitchFamily="34" charset="0"/>
              </a:rPr>
              <a:t>Key Technologies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 err="1">
                <a:effectLst/>
                <a:latin typeface="fkGroteskNeue"/>
              </a:rPr>
              <a:t>WhisperLive</a:t>
            </a:r>
            <a:r>
              <a:rPr lang="en-IN" sz="2800" b="0" i="0" dirty="0">
                <a:effectLst/>
                <a:latin typeface="fkGroteskNeue"/>
              </a:rPr>
              <a:t> (claudev4.py) - Real-time speech-to-text transcription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 err="1">
                <a:effectLst/>
                <a:latin typeface="fkGroteskNeue"/>
              </a:rPr>
              <a:t>LangGraph</a:t>
            </a:r>
            <a:r>
              <a:rPr lang="en-IN" sz="2800" b="0" i="0" dirty="0">
                <a:effectLst/>
                <a:latin typeface="fkGroteskNeue"/>
              </a:rPr>
              <a:t> &amp; </a:t>
            </a:r>
            <a:r>
              <a:rPr lang="en-IN" sz="2800" b="0" i="0" dirty="0" err="1">
                <a:effectLst/>
                <a:latin typeface="fkGroteskNeue"/>
              </a:rPr>
              <a:t>Ollama</a:t>
            </a:r>
            <a:r>
              <a:rPr lang="en-IN" sz="2800" b="0" i="0" dirty="0">
                <a:effectLst/>
                <a:latin typeface="fkGroteskNeue"/>
              </a:rPr>
              <a:t> - Local AI processing with Gemma 2B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FAISS Vector Store - Efficient similarity search for Q&amp;A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Multi-threaded Architecture - Background processing and UI responsiveness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0B767-E158-3491-2E7C-E64B9F875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8691" y="1182031"/>
            <a:ext cx="5181600" cy="5318278"/>
          </a:xfrm>
        </p:spPr>
        <p:txBody>
          <a:bodyPr>
            <a:normAutofit fontScale="62500" lnSpcReduction="20000"/>
          </a:bodyPr>
          <a:lstStyle/>
          <a:p>
            <a:pPr algn="l">
              <a:buNone/>
            </a:pPr>
            <a:r>
              <a:rPr lang="en-IN" sz="2800" b="1" i="0" dirty="0">
                <a:effectLst/>
                <a:latin typeface="Aptos" panose="020B0004020202020204" pitchFamily="34" charset="0"/>
              </a:rPr>
              <a:t>Data Flow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Audio Input → VAD Processing → Transcription → AI Analysis → UI Display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Thread-safe communication between all components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JSON-based persistence for chat history and sessions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IN" sz="2800" b="1" i="0" dirty="0">
                <a:effectLst/>
                <a:latin typeface="Aptos" panose="020B0004020202020204" pitchFamily="34" charset="0"/>
              </a:rPr>
              <a:t>Design Principles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Modular Structure - Separate files for each functionality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Local Processing - Privacy-focused with no cloud dependencies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  <a:latin typeface="fkGroteskNeue"/>
              </a:rPr>
              <a:t>Real-time Performance - Concurrent processing with intelligent buffering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95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system architecture&#10;&#10;AI-generated content may be incorrect.">
            <a:extLst>
              <a:ext uri="{FF2B5EF4-FFF2-40B4-BE49-F238E27FC236}">
                <a16:creationId xmlns:a16="http://schemas.microsoft.com/office/drawing/2014/main" id="{ED19DE7C-60B4-E9C1-E0F7-852D3A770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143" y="54143"/>
            <a:ext cx="6749714" cy="674971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1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494B-C9BC-2F6D-BDC7-BE5DD23B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7626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6C2EC-8C35-CA91-9AAB-8B0E88DEB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90906"/>
            <a:ext cx="5181600" cy="4901967"/>
          </a:xfrm>
        </p:spPr>
        <p:txBody>
          <a:bodyPr>
            <a:normAutofit fontScale="55000" lnSpcReduction="20000"/>
          </a:bodyPr>
          <a:lstStyle/>
          <a:p>
            <a:pPr algn="ctr">
              <a:buNone/>
            </a:pPr>
            <a:r>
              <a:rPr lang="en-IN" sz="3200" b="1" i="0" u="sng" dirty="0">
                <a:effectLst/>
                <a:latin typeface="Aptos" panose="020B0004020202020204" pitchFamily="34" charset="0"/>
              </a:rPr>
              <a:t>Core Technologies Implemented</a:t>
            </a:r>
          </a:p>
          <a:p>
            <a:pPr algn="ctr">
              <a:buNone/>
            </a:pPr>
            <a:endParaRPr lang="en-IN" sz="3200" b="1" i="0" u="sng" dirty="0">
              <a:effectLst/>
              <a:latin typeface="Aptos" panose="020B0004020202020204" pitchFamily="34" charset="0"/>
            </a:endParaRPr>
          </a:p>
          <a:p>
            <a:pPr algn="l">
              <a:buNone/>
            </a:pPr>
            <a:r>
              <a:rPr lang="en-IN" b="1" i="0" dirty="0" err="1">
                <a:effectLst/>
                <a:latin typeface="Aptos" panose="020B0004020202020204" pitchFamily="34" charset="0"/>
              </a:rPr>
              <a:t>WhisperLive</a:t>
            </a:r>
            <a:r>
              <a:rPr lang="en-IN" b="1" i="0" dirty="0">
                <a:effectLst/>
                <a:latin typeface="Aptos" panose="020B0004020202020204" pitchFamily="34" charset="0"/>
              </a:rPr>
              <a:t> - Real-Time Transcription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fkGroteskNeue"/>
              </a:rPr>
              <a:t>Colabora's</a:t>
            </a:r>
            <a:r>
              <a:rPr lang="en-IN" b="0" i="0" dirty="0">
                <a:effectLst/>
                <a:latin typeface="fkGroteskNeue"/>
              </a:rPr>
              <a:t> </a:t>
            </a:r>
            <a:r>
              <a:rPr lang="en-IN" b="0" i="0" dirty="0" err="1">
                <a:effectLst/>
                <a:latin typeface="fkGroteskNeue"/>
              </a:rPr>
              <a:t>WhisperLive</a:t>
            </a:r>
            <a:r>
              <a:rPr lang="en-IN" b="0" i="0" dirty="0">
                <a:effectLst/>
                <a:latin typeface="fkGroteskNeue"/>
              </a:rPr>
              <a:t> implementation for nearly-live speech-to-text conversion​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Faster-Whisper backend using OpenAI's Whisper model for accurate transcription​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Intelligent buffering with sentence-level segmentation and redundancy removal​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Performance optimization with Real-Time Factor (RTF) monitoring for low-latency processing​</a:t>
            </a:r>
          </a:p>
          <a:p>
            <a:pPr algn="l">
              <a:buNone/>
            </a:pPr>
            <a:r>
              <a:rPr lang="en-IN" b="1" i="0" dirty="0">
                <a:effectLst/>
                <a:latin typeface="Aptos" panose="020B0004020202020204" pitchFamily="34" charset="0"/>
              </a:rPr>
              <a:t>Voice Activity Detection (VAD)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WebRTC VAD with configurable aggressiveness levels (0-3) for speech detection​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Frame-based processing at 30ms intervals with padding for smoother transitions​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Threshold tuning for voiced (0.8) and unvoiced (0.95) speech classification​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B9DA2-ADC1-9219-132C-A468EB724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90907"/>
            <a:ext cx="5181600" cy="4901966"/>
          </a:xfrm>
        </p:spPr>
        <p:txBody>
          <a:bodyPr>
            <a:normAutofit fontScale="55000" lnSpcReduction="20000"/>
          </a:bodyPr>
          <a:lstStyle/>
          <a:p>
            <a:pPr algn="ctr">
              <a:buNone/>
            </a:pPr>
            <a:r>
              <a:rPr lang="en-IN" sz="3300" b="1" i="0" u="sng" dirty="0">
                <a:effectLst/>
                <a:latin typeface="fkGrotesk"/>
              </a:rPr>
              <a:t>AI Processing Technologies</a:t>
            </a:r>
          </a:p>
          <a:p>
            <a:pPr algn="ctr">
              <a:buNone/>
            </a:pPr>
            <a:endParaRPr lang="en-IN" sz="3300" b="1" i="0" u="sng" dirty="0">
              <a:effectLst/>
              <a:latin typeface="fkGrotesk"/>
            </a:endParaRPr>
          </a:p>
          <a:p>
            <a:pPr algn="l">
              <a:buNone/>
            </a:pPr>
            <a:r>
              <a:rPr lang="en-IN" b="1" i="0" dirty="0" err="1">
                <a:effectLst/>
                <a:latin typeface="Aptos" panose="020B0004020202020204" pitchFamily="34" charset="0"/>
              </a:rPr>
              <a:t>LangGraph</a:t>
            </a:r>
            <a:r>
              <a:rPr lang="en-IN" b="1" i="0" dirty="0">
                <a:effectLst/>
                <a:latin typeface="Aptos" panose="020B0004020202020204" pitchFamily="34" charset="0"/>
              </a:rPr>
              <a:t> &amp; </a:t>
            </a:r>
            <a:r>
              <a:rPr lang="en-IN" b="1" i="0" dirty="0" err="1">
                <a:effectLst/>
                <a:latin typeface="Aptos" panose="020B0004020202020204" pitchFamily="34" charset="0"/>
              </a:rPr>
              <a:t>LangChain</a:t>
            </a:r>
            <a:r>
              <a:rPr lang="en-IN" b="1" i="0" dirty="0">
                <a:effectLst/>
                <a:latin typeface="Aptos" panose="020B0004020202020204" pitchFamily="34" charset="0"/>
              </a:rPr>
              <a:t> Framework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State-based workflows for building complex AI agent pipelines​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Message handling with </a:t>
            </a:r>
            <a:r>
              <a:rPr lang="en-IN" b="0" i="0" dirty="0" err="1">
                <a:effectLst/>
                <a:latin typeface="fkGroteskNeue"/>
              </a:rPr>
              <a:t>HumanMessage</a:t>
            </a:r>
            <a:r>
              <a:rPr lang="en-IN" b="0" i="0" dirty="0">
                <a:effectLst/>
                <a:latin typeface="fkGroteskNeue"/>
              </a:rPr>
              <a:t> and </a:t>
            </a:r>
            <a:r>
              <a:rPr lang="en-IN" b="0" i="0" dirty="0" err="1">
                <a:effectLst/>
                <a:latin typeface="fkGroteskNeue"/>
              </a:rPr>
              <a:t>AIMessage</a:t>
            </a:r>
            <a:r>
              <a:rPr lang="en-IN" b="0" i="0" dirty="0">
                <a:effectLst/>
                <a:latin typeface="fkGroteskNeue"/>
              </a:rPr>
              <a:t> for conversation management​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Memory management using </a:t>
            </a:r>
            <a:r>
              <a:rPr lang="en-IN" b="0" i="0" dirty="0" err="1">
                <a:effectLst/>
                <a:latin typeface="fkGroteskNeue"/>
              </a:rPr>
              <a:t>ChatMessageHistory</a:t>
            </a:r>
            <a:r>
              <a:rPr lang="en-IN" b="0" i="0" dirty="0">
                <a:effectLst/>
                <a:latin typeface="fkGroteskNeue"/>
              </a:rPr>
              <a:t> for context-aware responses​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Multi-stage processing with chunking, terminology extraction, and summarization​</a:t>
            </a:r>
          </a:p>
          <a:p>
            <a:pPr algn="l">
              <a:buNone/>
            </a:pPr>
            <a:r>
              <a:rPr lang="en-IN" b="1" i="0" dirty="0">
                <a:effectLst/>
                <a:latin typeface="Aptos" panose="020B0004020202020204" pitchFamily="34" charset="0"/>
              </a:rPr>
              <a:t>Vector Storage &amp; Semantic Search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FAISS indexing with 1024-dimensional embeddings for similarity search​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fkGroteskNeue"/>
              </a:rPr>
              <a:t>Ollama</a:t>
            </a:r>
            <a:r>
              <a:rPr lang="en-IN" b="0" i="0" dirty="0">
                <a:effectLst/>
                <a:latin typeface="fkGroteskNeue"/>
              </a:rPr>
              <a:t> </a:t>
            </a:r>
            <a:r>
              <a:rPr lang="en-IN" b="0" i="0" dirty="0" err="1">
                <a:effectLst/>
                <a:latin typeface="fkGroteskNeue"/>
              </a:rPr>
              <a:t>mxbai</a:t>
            </a:r>
            <a:r>
              <a:rPr lang="en-IN" b="0" i="0" dirty="0">
                <a:effectLst/>
                <a:latin typeface="fkGroteskNeue"/>
              </a:rPr>
              <a:t>-embed-large model for generating semantic embeddings​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Cosine similarity with threshold 0.35 for context retrieval​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Efficient retrieval for question answering with relevant transcript segments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41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44A7-CC87-F09E-ACE1-99E4F7B4A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018"/>
            <a:ext cx="10515600" cy="608748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effectLst/>
                <a:latin typeface="fkGrotesk"/>
              </a:rPr>
              <a:t>Advanced Features</a:t>
            </a:r>
            <a:br>
              <a:rPr lang="en-IN" b="0" i="0" dirty="0">
                <a:effectLst/>
                <a:latin typeface="fkGrotesk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F9445-0874-5B51-17FA-084F15F55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766"/>
            <a:ext cx="10515600" cy="5281109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IN" sz="8600" b="1" i="0" dirty="0">
                <a:effectLst/>
                <a:latin typeface="Aptos" panose="020B0004020202020204" pitchFamily="34" charset="0"/>
              </a:rPr>
              <a:t>Local LLM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 err="1">
                <a:effectLst/>
                <a:latin typeface="fkGroteskNeue"/>
              </a:rPr>
              <a:t>Ollama</a:t>
            </a:r>
            <a:r>
              <a:rPr lang="en-IN" sz="4300" b="0" i="0" dirty="0">
                <a:effectLst/>
                <a:latin typeface="fkGroteskNeue"/>
              </a:rPr>
              <a:t> framework for running local language models without cloud dependencies​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Gemma 2B model for conversational AI and question answering​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Temperature control (0) for consistent, deterministic responses​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 err="1">
                <a:effectLst/>
                <a:latin typeface="fkGroteskNeue"/>
              </a:rPr>
              <a:t>Tavily</a:t>
            </a:r>
            <a:r>
              <a:rPr lang="en-IN" sz="4300" b="0" i="0" dirty="0">
                <a:effectLst/>
                <a:latin typeface="fkGroteskNeue"/>
              </a:rPr>
              <a:t> search integration for terminology definitions and external knowledge​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b="0" i="0" dirty="0">
              <a:effectLst/>
              <a:latin typeface="fkGroteskNeue"/>
            </a:endParaRPr>
          </a:p>
          <a:p>
            <a:pPr>
              <a:buNone/>
            </a:pPr>
            <a:r>
              <a:rPr lang="en-IN" sz="8600" b="1" i="0" dirty="0">
                <a:effectLst/>
                <a:latin typeface="Aptos" panose="020B0004020202020204" pitchFamily="34" charset="0"/>
              </a:rPr>
              <a:t>Transcript Processing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Multi-threaded architecture with separate threads for recording and transcription​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Queue-based audio streaming for non-blocking real-time processing​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Post-processing refinement for grammar correction and formatting​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Confidence scoring for filtering low-quality transcription segments​</a:t>
            </a:r>
          </a:p>
          <a:p>
            <a:pPr marL="0" indent="0">
              <a:buNone/>
            </a:pPr>
            <a:endParaRPr lang="en-IN" sz="4300" b="0" i="0" dirty="0">
              <a:effectLst/>
              <a:latin typeface="fkGroteskNeue"/>
            </a:endParaRPr>
          </a:p>
          <a:p>
            <a:pPr>
              <a:buNone/>
            </a:pPr>
            <a:r>
              <a:rPr lang="en-IN" sz="8600" b="1" i="0" dirty="0">
                <a:effectLst/>
                <a:latin typeface="Aptos" panose="020B0004020202020204" pitchFamily="34" charset="0"/>
              </a:rPr>
              <a:t>Enhanced Lecture Summarization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Text chunking with </a:t>
            </a:r>
            <a:r>
              <a:rPr lang="en-IN" sz="4300" b="0" i="0" dirty="0" err="1">
                <a:effectLst/>
                <a:latin typeface="fkGroteskNeue"/>
              </a:rPr>
              <a:t>RecursiveCharacterTextSplitter</a:t>
            </a:r>
            <a:r>
              <a:rPr lang="en-IN" sz="4300" b="0" i="0" dirty="0">
                <a:effectLst/>
                <a:latin typeface="fkGroteskNeue"/>
              </a:rPr>
              <a:t> for manageable processing​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LLM-based terminology extraction with regex filtering for technical terms​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Structured output generation with key concepts and comprehensive summaries​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300" b="0" i="0" dirty="0">
                <a:effectLst/>
                <a:latin typeface="fkGroteskNeue"/>
              </a:rPr>
              <a:t>Performance metrics tracking including processing time and memory usage</a:t>
            </a:r>
          </a:p>
          <a:p>
            <a:endParaRPr lang="en-US" sz="1000" dirty="0"/>
          </a:p>
          <a:p>
            <a:pPr>
              <a:buNone/>
            </a:pPr>
            <a:br>
              <a:rPr lang="en-IN" sz="1000" dirty="0"/>
            </a:b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3304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7385"/>
            <a:ext cx="10515600" cy="1325563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/>
              <a:t>Transforming the Learning Ecology: Designing a Proactive AI Assistant for Maximizing Engagement and Knowledge Retention in Live Instructional Settings.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224"/>
            <a:ext cx="10515600" cy="473473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b="1" u="sng" dirty="0"/>
              <a:t>Primary Goal:</a:t>
            </a:r>
            <a:br>
              <a:rPr lang="en-IN" dirty="0"/>
            </a:br>
            <a:r>
              <a:rPr lang="en-IN" dirty="0"/>
              <a:t>Develop an on-device AI Student Assistant for real-time lecture transcription, intelligent Q&amp;A, and automated summarization.</a:t>
            </a:r>
          </a:p>
          <a:p>
            <a:pPr>
              <a:buNone/>
            </a:pPr>
            <a:r>
              <a:rPr lang="en-IN" b="1" u="sng" dirty="0"/>
              <a:t>Key Features:</a:t>
            </a:r>
            <a:endParaRPr lang="en-IN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Real-Time Transcription: -</a:t>
            </a:r>
            <a:r>
              <a:rPr lang="en-IN" dirty="0"/>
              <a:t> </a:t>
            </a:r>
            <a:r>
              <a:rPr lang="en-IN" dirty="0" err="1"/>
              <a:t>WhisperLive</a:t>
            </a:r>
            <a:r>
              <a:rPr lang="en-IN" dirty="0"/>
              <a:t>-based low-latency speech-to-text with VAD, multi-language (English only)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Intelligent Q&amp;A:</a:t>
            </a:r>
            <a:r>
              <a:rPr lang="en-IN" dirty="0"/>
              <a:t> - Contextual question answering using </a:t>
            </a:r>
            <a:r>
              <a:rPr lang="en-IN" dirty="0" err="1"/>
              <a:t>LangGraph</a:t>
            </a:r>
            <a:r>
              <a:rPr lang="en-IN" dirty="0"/>
              <a:t> agents, FAISS semantic search, and local Gemma 2B-LLM.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Lecture Analysis:</a:t>
            </a:r>
            <a:r>
              <a:rPr lang="en-IN" dirty="0"/>
              <a:t> - Auto-summarization, key term extraction, and concept categorization with integrated definitions.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User Experience:</a:t>
            </a:r>
            <a:r>
              <a:rPr lang="en-IN" dirty="0"/>
              <a:t> - Modern </a:t>
            </a:r>
            <a:r>
              <a:rPr lang="en-IN" dirty="0" err="1"/>
              <a:t>CustomTkinter</a:t>
            </a:r>
            <a:r>
              <a:rPr lang="en-IN" dirty="0"/>
              <a:t> UI, session management, privacy-focused local processing, and optimized performance.</a:t>
            </a:r>
          </a:p>
          <a:p>
            <a:pPr>
              <a:buNone/>
            </a:pPr>
            <a:r>
              <a:rPr lang="en-IN" b="1" u="sng" dirty="0"/>
              <a:t>Expected Impact:</a:t>
            </a:r>
            <a:endParaRPr lang="en-IN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Boosts learning efficiency &amp; retention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Enables self-paced, accessible, AI-assisted study experiences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733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u="sng" dirty="0"/>
              <a:t>System Workflow </a:t>
            </a:r>
          </a:p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Step 1: Audio Capture &amp; Processing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Audio input: 16kHz sampling rate with mono channel configuration​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VAD implementation: WebRTC VAD (aggressiveness level 3) for speech detection​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Queue-based streaming: Thread-safe audio transfer for real-time processing​</a:t>
            </a:r>
          </a:p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Step 2: Speech-to-Text Transcription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fkGroteskNeue"/>
              </a:rPr>
              <a:t>WhisperLive</a:t>
            </a:r>
            <a:r>
              <a:rPr lang="en-IN" b="0" i="0" dirty="0">
                <a:effectLst/>
                <a:latin typeface="fkGroteskNeue"/>
              </a:rPr>
              <a:t> integration: </a:t>
            </a:r>
            <a:r>
              <a:rPr lang="en-IN" b="0" i="0" dirty="0" err="1">
                <a:effectLst/>
                <a:latin typeface="fkGroteskNeue"/>
              </a:rPr>
              <a:t>Colabora's</a:t>
            </a:r>
            <a:r>
              <a:rPr lang="en-IN" b="0" i="0" dirty="0">
                <a:effectLst/>
                <a:latin typeface="fkGroteskNeue"/>
              </a:rPr>
              <a:t> real-time transcription engine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Sentence buffering: Intelligent segmentation with redundancy removal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Quality filtering: Confidence threshold (0.6) for accurate transcripts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Transcript refinement: Post-processing with grammar correction using </a:t>
            </a:r>
            <a:r>
              <a:rPr lang="en-IN" b="0" i="0" dirty="0" err="1">
                <a:effectLst/>
                <a:latin typeface="fkGroteskNeue"/>
              </a:rPr>
              <a:t>Ollama</a:t>
            </a:r>
            <a:endParaRPr lang="en-IN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fkGroteskNeue"/>
            </a:endParaRPr>
          </a:p>
          <a:p>
            <a:pPr marL="0" indent="0" algn="l">
              <a:buNone/>
            </a:pPr>
            <a:endParaRPr lang="en-IN" b="0" i="0" dirty="0">
              <a:effectLst/>
              <a:latin typeface="fkGroteskNeue"/>
            </a:endParaRPr>
          </a:p>
          <a:p>
            <a:pPr marL="0" indent="0">
              <a:buNone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96CE0-BE59-20F3-0FF7-74FD17870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7185"/>
            <a:ext cx="10515600" cy="5731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b="1" dirty="0">
                <a:effectLst/>
                <a:latin typeface="fkGrotesk"/>
              </a:rPr>
              <a:t>Step 3: AI-Powered Question Answering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>
                <a:effectLst/>
              </a:rPr>
              <a:t>Vector embeddings</a:t>
            </a:r>
            <a:r>
              <a:rPr lang="en-IN" dirty="0">
                <a:effectLst/>
              </a:rPr>
              <a:t>: </a:t>
            </a:r>
            <a:r>
              <a:rPr lang="en-IN" dirty="0" err="1">
                <a:effectLst/>
              </a:rPr>
              <a:t>Ollama</a:t>
            </a:r>
            <a:r>
              <a:rPr lang="en-IN" dirty="0">
                <a:effectLst/>
              </a:rPr>
              <a:t> </a:t>
            </a:r>
            <a:r>
              <a:rPr lang="en-IN" dirty="0" err="1">
                <a:effectLst/>
              </a:rPr>
              <a:t>mxbai</a:t>
            </a:r>
            <a:r>
              <a:rPr lang="en-IN" dirty="0">
                <a:effectLst/>
              </a:rPr>
              <a:t>-embed-large for 1024-dimensional vectors​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>
                <a:effectLst/>
              </a:rPr>
              <a:t>FAISS indexing</a:t>
            </a:r>
            <a:r>
              <a:rPr lang="en-IN" dirty="0">
                <a:effectLst/>
              </a:rPr>
              <a:t>: Similarity search with 0.35 threshold for context retrieval​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 err="1">
                <a:effectLst/>
              </a:rPr>
              <a:t>LangGraph</a:t>
            </a:r>
            <a:r>
              <a:rPr lang="en-IN" b="0" dirty="0">
                <a:effectLst/>
              </a:rPr>
              <a:t> workflow</a:t>
            </a:r>
            <a:r>
              <a:rPr lang="en-IN" dirty="0">
                <a:effectLst/>
              </a:rPr>
              <a:t>: State-based agent with Gemma 2B for responses​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>
                <a:effectLst/>
              </a:rPr>
              <a:t>Memory management</a:t>
            </a:r>
            <a:r>
              <a:rPr lang="en-IN" dirty="0">
                <a:effectLst/>
              </a:rPr>
              <a:t>: </a:t>
            </a:r>
            <a:r>
              <a:rPr lang="en-IN" dirty="0" err="1">
                <a:effectLst/>
              </a:rPr>
              <a:t>ChatMessageHistory</a:t>
            </a:r>
            <a:r>
              <a:rPr lang="en-IN" dirty="0">
                <a:effectLst/>
              </a:rPr>
              <a:t> for conversation continuity​</a:t>
            </a:r>
          </a:p>
          <a:p>
            <a:pPr>
              <a:buNone/>
            </a:pPr>
            <a:r>
              <a:rPr lang="en-IN" b="1" dirty="0">
                <a:effectLst/>
                <a:latin typeface="fkGrotesk"/>
              </a:rPr>
              <a:t>Step 4: Lecture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Text chunking: 2000-character chunks with 200-character overlap​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LLM-based extraction: Terminology identification and definition generation​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Multi-stage summarization: Chunk summaries followed by final synthesis​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fkGroteskNeue"/>
              </a:rPr>
              <a:t>Tavily</a:t>
            </a:r>
            <a:r>
              <a:rPr lang="en-IN" b="0" i="0" dirty="0">
                <a:effectLst/>
                <a:latin typeface="fkGroteskNeue"/>
              </a:rPr>
              <a:t> integration: External knowledge retrieval for comprehensive definitions​</a:t>
            </a:r>
          </a:p>
          <a:p>
            <a:pPr>
              <a:buNone/>
            </a:pPr>
            <a:r>
              <a:rPr lang="en-IN" b="1" dirty="0">
                <a:effectLst/>
                <a:latin typeface="fkGrotesk"/>
              </a:rPr>
              <a:t>Step 5: User Interface &amp;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 err="1">
                <a:effectLst/>
                <a:latin typeface="fkGroteskNeue"/>
              </a:rPr>
              <a:t>CustomTkinter</a:t>
            </a:r>
            <a:r>
              <a:rPr lang="en-IN" b="0" i="0" dirty="0">
                <a:effectLst/>
                <a:latin typeface="fkGroteskNeue"/>
              </a:rPr>
              <a:t> GUI: Three-view architecture (dashboard, recording, history)​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Multi-threaded design: Separate threads for audio, transcription, and UI​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JSON storage: Persistent session management with chat history​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Event-driven updates: Real-time display with callback-based communication​</a:t>
            </a:r>
          </a:p>
        </p:txBody>
      </p:sp>
    </p:spTree>
    <p:extLst>
      <p:ext uri="{BB962C8B-B14F-4D97-AF65-F5344CB8AC3E}">
        <p14:creationId xmlns:p14="http://schemas.microsoft.com/office/powerpoint/2010/main" val="3755034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55449F-5ED6-79D7-C661-62C407501E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208936"/>
              </p:ext>
            </p:extLst>
          </p:nvPr>
        </p:nvGraphicFramePr>
        <p:xfrm>
          <a:off x="838200" y="1825625"/>
          <a:ext cx="10515597" cy="3434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681465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718570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11402702"/>
                    </a:ext>
                  </a:extLst>
                </a:gridCol>
              </a:tblGrid>
              <a:tr h="460821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68482"/>
                  </a:ext>
                </a:extLst>
              </a:tr>
              <a:tr h="460821">
                <a:tc>
                  <a:txBody>
                    <a:bodyPr/>
                    <a:lstStyle/>
                    <a:p>
                      <a:r>
                        <a:rPr lang="en-IN" dirty="0" err="1"/>
                        <a:t>WhisperModelWrapper</a:t>
                      </a:r>
                      <a:r>
                        <a:rPr lang="en-IN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OpenAI Whisper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speech transcription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717243"/>
                  </a:ext>
                </a:extLst>
              </a:tr>
              <a:tr h="795390">
                <a:tc>
                  <a:txBody>
                    <a:bodyPr/>
                    <a:lstStyle/>
                    <a:p>
                      <a:r>
                        <a:rPr lang="en-IN" dirty="0" err="1"/>
                        <a:t>QA_Agent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LangChain</a:t>
                      </a:r>
                      <a:r>
                        <a:rPr lang="en-IN" dirty="0"/>
                        <a:t> + </a:t>
                      </a:r>
                      <a:r>
                        <a:rPr lang="en-IN" dirty="0" err="1"/>
                        <a:t>LangGraph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Context-aware question answering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14762"/>
                  </a:ext>
                </a:extLst>
              </a:tr>
              <a:tr h="460821">
                <a:tc>
                  <a:txBody>
                    <a:bodyPr/>
                    <a:lstStyle/>
                    <a:p>
                      <a:r>
                        <a:rPr lang="en-IN" dirty="0" err="1"/>
                        <a:t>AudioProcessor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PyAudio</a:t>
                      </a:r>
                      <a:r>
                        <a:rPr lang="en-IN" dirty="0"/>
                        <a:t> + WebRTC VAD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Audio capture and processing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371647"/>
                  </a:ext>
                </a:extLst>
              </a:tr>
              <a:tr h="795390">
                <a:tc>
                  <a:txBody>
                    <a:bodyPr/>
                    <a:lstStyle/>
                    <a:p>
                      <a:r>
                        <a:rPr lang="en-IN" dirty="0" err="1"/>
                        <a:t>EnhancedLectureTranscriptSummarizer</a:t>
                      </a:r>
                      <a:r>
                        <a:rPr lang="en-IN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Ollama</a:t>
                      </a:r>
                      <a:r>
                        <a:rPr lang="en-IN" dirty="0"/>
                        <a:t> LLM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Advanced text analysis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329224"/>
                  </a:ext>
                </a:extLst>
              </a:tr>
              <a:tr h="460821">
                <a:tc>
                  <a:txBody>
                    <a:bodyPr/>
                    <a:lstStyle/>
                    <a:p>
                      <a:r>
                        <a:rPr lang="en-IN" dirty="0" err="1"/>
                        <a:t>AppUI</a:t>
                      </a:r>
                      <a:r>
                        <a:rPr lang="en-IN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AppUI</a:t>
                      </a:r>
                      <a:r>
                        <a:rPr lang="en-IN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Modern user interface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82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06F9-C039-75F7-A2AE-10FA03CD9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D18C6-D711-3690-8748-CDDF64219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Audio processing at 16 kHz sampling rate </a:t>
            </a:r>
          </a:p>
          <a:p>
            <a:r>
              <a:rPr lang="en-IN" dirty="0"/>
              <a:t>Low-latency transcription with intelligent buffering </a:t>
            </a:r>
          </a:p>
          <a:p>
            <a:r>
              <a:rPr lang="en-IN" dirty="0"/>
              <a:t>Vector similarity search with 1024-dimensional embeddings </a:t>
            </a:r>
          </a:p>
          <a:p>
            <a:r>
              <a:rPr lang="en-IN" dirty="0"/>
              <a:t>Multi-threaded architecture ensuring responsive user experience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39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Radford, A., et al. "Robust Speech Recognition via Large-Scale Weak Supervision." ICML 2023.</a:t>
            </a:r>
          </a:p>
          <a:p>
            <a:pPr marL="514350" indent="-514350">
              <a:buAutoNum type="arabicPeriod"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Chase, H. "</a:t>
            </a:r>
            <a:r>
              <a:rPr lang="en-IN" dirty="0" err="1"/>
              <a:t>LangChain</a:t>
            </a:r>
            <a:r>
              <a:rPr lang="en-IN" dirty="0"/>
              <a:t>: Building applications with LLMs through composability." 2022.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3. Johnson, J., </a:t>
            </a:r>
            <a:r>
              <a:rPr lang="en-IN" dirty="0" err="1"/>
              <a:t>Douze</a:t>
            </a:r>
            <a:r>
              <a:rPr lang="en-IN" dirty="0"/>
              <a:t>, M., &amp; Jégou, H. "Billion-scale similarity search with GPUs." IEEE Transactions on Big Data, 2019.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1054</Words>
  <Application>Microsoft Macintosh PowerPoint</Application>
  <PresentationFormat>Widescreen</PresentationFormat>
  <Paragraphs>167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fkGrotesk</vt:lpstr>
      <vt:lpstr>fkGroteskNeue</vt:lpstr>
      <vt:lpstr>Wingdings</vt:lpstr>
      <vt:lpstr>Office Theme</vt:lpstr>
      <vt:lpstr>Student AI Assistant</vt:lpstr>
      <vt:lpstr>Outline</vt:lpstr>
      <vt:lpstr>Introduction</vt:lpstr>
      <vt:lpstr>System Architecture</vt:lpstr>
      <vt:lpstr>PowerPoint Presentation</vt:lpstr>
      <vt:lpstr>Literature Review</vt:lpstr>
      <vt:lpstr>Advanced Features </vt:lpstr>
      <vt:lpstr>Problem Statement</vt:lpstr>
      <vt:lpstr>Objectives</vt:lpstr>
      <vt:lpstr>Proposed Methodology</vt:lpstr>
      <vt:lpstr>PowerPoint Presentation</vt:lpstr>
      <vt:lpstr>Result </vt:lpstr>
      <vt:lpstr>Key Features Implemented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SHRESTH PANIGRAHI</cp:lastModifiedBy>
  <cp:revision>10</cp:revision>
  <dcterms:created xsi:type="dcterms:W3CDTF">2025-09-29T05:03:41Z</dcterms:created>
  <dcterms:modified xsi:type="dcterms:W3CDTF">2025-10-14T09:24:49Z</dcterms:modified>
</cp:coreProperties>
</file>